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</Types>
</file>

<file path=_rels/.rels>&#65279;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  <p:defaultTextStyle/>
</p:presentation>
</file>

<file path=ppt/_rels/presentation.xml.rels>&#65279;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Relationship Id="rId18" Type="http://schemas.openxmlformats.org/officeDocument/2006/relationships/slide" Target="slides/slide17.xml"/>
<Relationship Id="rId19" Type="http://schemas.openxmlformats.org/officeDocument/2006/relationships/slide" Target="slides/slide18.xml"/>
<Relationship Id="rId20" Type="http://schemas.openxmlformats.org/officeDocument/2006/relationships/slide" Target="slides/slide19.xml"/>
<Relationship Id="rId21" Type="http://schemas.openxmlformats.org/officeDocument/2006/relationships/slide" Target="slides/slide20.xml"/>
<Relationship Id="rId22" Type="http://schemas.openxmlformats.org/officeDocument/2006/relationships/slide" Target="slides/slide21.xml"/>
<Relationship Id="rId23" Type="http://schemas.openxmlformats.org/officeDocument/2006/relationships/slide" Target="slides/slide22.xml"/>
<Relationship Id="rId24" Type="http://schemas.openxmlformats.org/officeDocument/2006/relationships/slide" Target="slides/slide23.xml"/>
<Relationship Id="rId25" Type="http://schemas.openxmlformats.org/officeDocument/2006/relationships/slide" Target="slides/slide24.xml"/>
<Relationship Id="rId26" Type="http://schemas.openxmlformats.org/officeDocument/2006/relationships/slide" Target="slides/slide25.xml"/>
<Relationship Id="rId27" Type="http://schemas.openxmlformats.org/officeDocument/2006/relationships/slide" Target="slides/slide26.xml"/>
<Relationship Id="rId28" Type="http://schemas.openxmlformats.org/officeDocument/2006/relationships/slide" Target="slides/slide27.xml"/>
<Relationship Id="rId29" Type="http://schemas.openxmlformats.org/officeDocument/2006/relationships/slide" Target="slides/slide28.xml"/>
<Relationship Id="rId30" Type="http://schemas.openxmlformats.org/officeDocument/2006/relationships/slide" Target="slides/slide29.xml"/>
<Relationship Id="rId31" Type="http://schemas.openxmlformats.org/officeDocument/2006/relationships/slide" Target="slides/slide30.xml"/>
<Relationship Id="rId32" Type="http://schemas.openxmlformats.org/officeDocument/2006/relationships/slide" Target="slides/slide31.xml"/>
<Relationship Id="rId33" Type="http://schemas.openxmlformats.org/officeDocument/2006/relationships/slide" Target="slides/slide32.xml"/>
<Relationship Id="rId34" Type="http://schemas.openxmlformats.org/officeDocument/2006/relationships/slide" Target="slides/slide33.xml"/>
<Relationship Id="rId35" Type="http://schemas.openxmlformats.org/officeDocument/2006/relationships/slide" Target="slides/slide34.xml"/>
<Relationship Id="rId36" Type="http://schemas.openxmlformats.org/officeDocument/2006/relationships/slide" Target="slides/slide35.xml"/>
<Relationship Id="rId37" Type="http://schemas.openxmlformats.org/officeDocument/2006/relationships/slide" Target="slides/slide36.xml"/>
<Relationship Id="rId38" Type="http://schemas.openxmlformats.org/officeDocument/2006/relationships/slide" Target="slides/slide37.xml"/>
<Relationship Id="rId39" Type="http://schemas.openxmlformats.org/officeDocument/2006/relationships/slide" Target="slides/slide38.xml"/>
<Relationship Id="rId40" Type="http://schemas.openxmlformats.org/officeDocument/2006/relationships/slide" Target="slides/slide39.xml"/>
<Relationship Id="rId41" Type="http://schemas.openxmlformats.org/officeDocument/2006/relationships/slide" Target="slides/slide40.xml"/>
<Relationship Id="rId42" Type="http://schemas.openxmlformats.org/officeDocument/2006/relationships/slide" Target="slides/slide41.xml"/>
<Relationship Id="rId43" Type="http://schemas.openxmlformats.org/officeDocument/2006/relationships/slide" Target="slides/slide42.xml"/>
<Relationship Id="rId44" Type="http://schemas.openxmlformats.org/officeDocument/2006/relationships/slide" Target="slides/slide43.xml"/>
<Relationship Id="rId45" Type="http://schemas.openxmlformats.org/officeDocument/2006/relationships/slide" Target="slides/slide44.xml"/>
<Relationship Id="rId46" Type="http://schemas.openxmlformats.org/officeDocument/2006/relationships/slide" Target="slides/slide45.xml"/>
<Relationship Id="rId47" Type="http://schemas.openxmlformats.org/officeDocument/2006/relationships/slide" Target="slides/slide46.xml"/>
<Relationship Id="rId48" Type="http://schemas.openxmlformats.org/officeDocument/2006/relationships/slide" Target="slides/slide47.xml"/>
<Relationship Id="rId49" Type="http://schemas.openxmlformats.org/officeDocument/2006/relationships/slide" Target="slides/slide48.xml"/>
<Relationship Id="rId50" Type="http://schemas.openxmlformats.org/officeDocument/2006/relationships/slide" Target="slides/slide49.xml"/>
<Relationship Id="rId51" Type="http://schemas.openxmlformats.org/officeDocument/2006/relationships/slide" Target="slides/slide50.xml"/>
<Relationship Id="rId52" Type="http://schemas.openxmlformats.org/officeDocument/2006/relationships/slide" Target="slides/slide51.xml"/>
<Relationship Id="rId53" Type="http://schemas.openxmlformats.org/officeDocument/2006/relationships/slide" Target="slides/slide52.xml"/>
<Relationship Id="rId54" Type="http://schemas.openxmlformats.org/officeDocument/2006/relationships/slide" Target="slides/slide53.xml"/>
<Relationship Id="rId55" Type="http://schemas.openxmlformats.org/officeDocument/2006/relationships/slide" Target="slides/slide54.xml"/>
<Relationship Id="rId56" Type="http://schemas.openxmlformats.org/officeDocument/2006/relationships/slide" Target="slides/slide55.xml"/>
<Relationship Id="rId57" Type="http://schemas.openxmlformats.org/officeDocument/2006/relationships/slide" Target="slides/slide56.xml"/>
<Relationship Id="rId58" Type="http://schemas.openxmlformats.org/officeDocument/2006/relationships/slide" Target="slides/slide57.xml"/>
<Relationship Id="rId59" Type="http://schemas.openxmlformats.org/officeDocument/2006/relationships/slide" Target="slides/slide58.xml"/>
<Relationship Id="rId60" Type="http://schemas.openxmlformats.org/officeDocument/2006/relationships/slide" Target="slides/slide59.xml"/>
<Relationship Id="rId61" Type="http://schemas.openxmlformats.org/officeDocument/2006/relationships/slide" Target="slides/slide60.xml"/>
<Relationship Id="rId62" Type="http://schemas.openxmlformats.org/officeDocument/2006/relationships/slide" Target="slides/slide61.xml"/>
<Relationship Id="rId63" Type="http://schemas.openxmlformats.org/officeDocument/2006/relationships/slide" Target="slides/slide62.xml"/>
<Relationship Id="rId64" Type="http://schemas.openxmlformats.org/officeDocument/2006/relationships/slide" Target="slides/slide63.xml"/>
<Relationship Id="rId65" Type="http://schemas.openxmlformats.org/officeDocument/2006/relationships/slide" Target="slides/slide64.xml"/>
<Relationship Id="rId66" Type="http://schemas.openxmlformats.org/officeDocument/2006/relationships/slide" Target="slides/slide65.xml"/>
<Relationship Id="rId67" Type="http://schemas.openxmlformats.org/officeDocument/2006/relationships/slide" Target="slides/slide66.xml"/>
<Relationship Id="rId68" Type="http://schemas.openxmlformats.org/officeDocument/2006/relationships/slide" Target="slides/slide67.xml"/>
<Relationship Id="rId69" Type="http://schemas.openxmlformats.org/officeDocument/2006/relationships/slide" Target="slides/slide68.xml"/>
<Relationship Id="rId70" Type="http://schemas.openxmlformats.org/officeDocument/2006/relationships/slide" Target="slides/slide69.xml"/>
<Relationship Id="rId71" Type="http://schemas.openxmlformats.org/officeDocument/2006/relationships/slide" Target="slides/slide70.xml"/>
<Relationship Id="rId72" Type="http://schemas.openxmlformats.org/officeDocument/2006/relationships/slide" Target="slides/slide71.xml"/>
<Relationship Id="rId73" Type="http://schemas.openxmlformats.org/officeDocument/2006/relationships/slide" Target="slides/slide72.xml"/>
<Relationship Id="rId74" Type="http://schemas.openxmlformats.org/officeDocument/2006/relationships/slide" Target="slides/slide73.xml"/>
<Relationship Id="rId75" Type="http://schemas.openxmlformats.org/officeDocument/2006/relationships/slide" Target="slides/slide74.xml"/>
<Relationship Id="rId76" Type="http://schemas.openxmlformats.org/officeDocument/2006/relationships/slide" Target="slides/slide75.xml"/>
<Relationship Id="rId77" Type="http://schemas.openxmlformats.org/officeDocument/2006/relationships/slide" Target="slides/slide76.xml"/>
<Relationship Id="rId78" Type="http://schemas.openxmlformats.org/officeDocument/2006/relationships/slide" Target="slides/slide77.xml"/>
<Relationship Id="rId79" Type="http://schemas.openxmlformats.org/officeDocument/2006/relationships/slide" Target="slides/slide78.xml"/>
<Relationship Id="rId80" Type="http://schemas.openxmlformats.org/officeDocument/2006/relationships/slide" Target="slides/slide79.xml"/>
<Relationship Id="rId81" Type="http://schemas.openxmlformats.org/officeDocument/2006/relationships/slide" Target="slides/slide80.xml"/>
<Relationship Id="rId82" Type="http://schemas.openxmlformats.org/officeDocument/2006/relationships/slide" Target="slides/slide81.xml"/>
<Relationship Id="rId83" Type="http://schemas.openxmlformats.org/officeDocument/2006/relationships/slide" Target="slides/slide82.xml"/>
<Relationship Id="rId84" Type="http://schemas.openxmlformats.org/officeDocument/2006/relationships/slide" Target="slides/slide83.xml"/>
<Relationship Id="rId85" Type="http://schemas.openxmlformats.org/officeDocument/2006/relationships/slide" Target="slides/slide84.xml"/>
<Relationship Id="rId86" Type="http://schemas.openxmlformats.org/officeDocument/2006/relationships/slide" Target="slides/slide85.xml"/>
<Relationship Id="rId87" Type="http://schemas.openxmlformats.org/officeDocument/2006/relationships/slide" Target="slides/slide86.xml"/>
<Relationship Id="rId88" Type="http://schemas.openxmlformats.org/officeDocument/2006/relationships/slide" Target="slides/slide87.xml"/>
<Relationship Id="rId89" Type="http://schemas.openxmlformats.org/officeDocument/2006/relationships/slide" Target="slides/slide88.xml"/>
<Relationship Id="rId90" Type="http://schemas.openxmlformats.org/officeDocument/2006/relationships/slide" Target="slides/slide89.xml"/>
<Relationship Id="rId91" Type="http://schemas.openxmlformats.org/officeDocument/2006/relationships/slide" Target="slides/slide90.xml"/>
<Relationship Id="rId92" Type="http://schemas.openxmlformats.org/officeDocument/2006/relationships/slide" Target="slides/slide91.xml"/>
<Relationship Id="rId93" Type="http://schemas.openxmlformats.org/officeDocument/2006/relationships/slide" Target="slides/slide92.xml"/>
<Relationship Id="rId94" Type="http://schemas.openxmlformats.org/officeDocument/2006/relationships/slide" Target="slides/slide93.xml"/>
<Relationship Id="rId95" Type="http://schemas.openxmlformats.org/officeDocument/2006/relationships/slide" Target="slides/slide94.xml"/>
<Relationship Id="rId96" Type="http://schemas.openxmlformats.org/officeDocument/2006/relationships/slide" Target="slides/slide95.xml"/>
<Relationship Id="rId97" Type="http://schemas.openxmlformats.org/officeDocument/2006/relationships/slide" Target="slides/slide96.xml"/>
<Relationship Id="rId98" Type="http://schemas.openxmlformats.org/officeDocument/2006/relationships/slide" Target="slides/slide97.xml"/>
<Relationship Id="rId99" Type="http://schemas.openxmlformats.org/officeDocument/2006/relationships/slide" Target="slides/slide98.xml"/>
<Relationship Id="rId100" Type="http://schemas.openxmlformats.org/officeDocument/2006/relationships/slide" Target="slides/slide99.xml"/>
<Relationship Id="rId101" Type="http://schemas.openxmlformats.org/officeDocument/2006/relationships/slide" Target="slides/slide100.xml"/>
</Relationships>
</file>

<file path=ppt/slideLayouts/_rels/slideLayout1.xml.rels>&#65279;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/>
      </a:lvl1pPr>
    </p:titleStyle>
    <p:bodyStyle>
      <a:lvl1pPr marL="342900" indent="-342900">
        <a:defRPr sz="2000"/>
      </a:lvl1pPr>
    </p:bodyStyle>
    <p:otherStyle>
      <a:lvl1pPr>
        <a:defRPr sz="1800"/>
      </a:lvl1pPr>
    </p:otherStyle>
  </p:txStyles>
</p:sldMaster>
</file>

<file path=ppt/slides/_rels/slide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7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8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9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0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5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6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7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8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9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0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5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6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7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8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9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0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5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6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7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8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9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0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5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6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7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8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9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0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5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6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7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8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9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0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5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6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7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8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9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0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5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6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7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8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9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0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oss-Platform Identity Resolution for C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10287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3200" b="1">
                <a:solidFill>
                  <a:srgbClr val="0F172A"/>
                </a:solidFill>
              </a:rPr>
              <a:t>Cross-Platform Identity Resolution for CRM</a:t>
            </a:r>
            <a:endParaRPr lang="th-TH" sz="3200">
              <a:solidFill>
                <a:srgbClr val="0F172A"/>
              </a:solidFill>
            </a:endParaRPr>
          </a:p>
        </p:txBody>
      </p:sp>
      <p:sp>
        <p:nvSpPr>
          <p:cNvPr id="5" name="Subtitle"/>
          <p:cNvSpPr txBox="1"/>
          <p:nvPr/>
        </p:nvSpPr>
        <p:spPr>
          <a:xfrm>
            <a:off x="685800" y="2057400"/>
            <a:ext cx="8500000" cy="182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000">
                <a:solidFill>
                  <a:srgbClr val="334155"/>
                </a:solidFill>
              </a:rPr>
              <a:t>Guide deck 100 slides พร้อมสคริปต์พูด</a:t>
            </a:r>
            <a:endParaRPr lang="th-TH" sz="2000">
              <a:solidFill>
                <a:srgbClr val="334155"/>
              </a:solidFill>
            </a:endParaRPr>
          </a:p>
          <a:p>
            <a:pPr algn="l"/>
            <a:r>
              <a:rPr lang="th-TH" sz="2000">
                <a:solidFill>
                  <a:srgbClr val="334155"/>
                </a:solidFill>
              </a:rPr>
              <a:t>Project 1: exact-first, blocking, multimodal scoring และ CRM output</a:t>
            </a:r>
            <a:endParaRPr lang="th-TH" sz="2000">
              <a:solidFill>
                <a:srgbClr val="334155"/>
              </a:solidFill>
            </a:endParaRPr>
          </a:p>
          <a:p>
            <a:pPr algn="l"/>
            <a:r>
              <a:rPr lang="th-TH" sz="2000">
                <a:solidFill>
                  <a:srgbClr val="334155"/>
                </a:solidFill>
              </a:rPr>
              <a:t>ใช้ข้อมูล Twitter, Instagram และ Google+ รวม 36,804 โปรไฟล์</a:t>
            </a:r>
            <a:endParaRPr lang="th-TH" sz="2000">
              <a:solidFill>
                <a:srgbClr val="334155"/>
              </a:solidFill>
            </a:endParaRPr>
          </a:p>
        </p:txBody>
      </p:sp>
      <p:sp>
        <p:nvSpPr>
          <p:cNvPr id="6" name="Visual Prompt"/>
          <p:cNvSpPr txBox="1"/>
          <p:nvPr/>
        </p:nvSpPr>
        <p:spPr>
          <a:xfrm>
            <a:off x="685800" y="5029200"/>
            <a:ext cx="10515600" cy="6858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400">
                <a:solidFill>
                  <a:srgbClr val="64748B"/>
                </a:solidFill>
              </a:rPr>
              <a:t>แนวภาพหน้าปก: หน้าปกโทนวิจัย ใช้เส้นเชื่อม 3 แพลตฟอร์มเข้าสู่ customer profile เดียว</a:t>
            </a:r>
            <a:endParaRPr lang="th-TH" sz="14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วิธีใช้ Deck ชุดนี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วิธีใช้ Deck ชุดนี้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ข้อความบนสไลด์ถูกตั้งใจให้สั้น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สคริปต์พูดอยู่ในไฟล์คู่กัน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ภาพประกอบแต่ละหน้าเป็นข้อเสนอแนะ ไม่จำเป็นต้องใช้ตามนี้ทั้งหมด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 flow สั้น ๆ อธิบายว่า slide = headline, guide = script, figure = visual support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Opening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2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Agenda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ปัญหา ข้อมูล และขอบเขตของงาน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วิธีทำตั้งแต่ pipeline ถึง model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ผลลัพธ์ production ข้อจำกัด และข้อเสนอแนะ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timeline 3 ช่วงหรือ roadmap แบบกว้าง ๆ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Opening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3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ปัญหาทางธุรกิจของงานนี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ปัญหาทางธุรกิจของงานนี้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ลูกค้าคนเดียวกันกระจายอยู่หลายแพลตฟอร์ม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CRM เห็นข้อมูลเป็นหลายระเบียน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การวิเคราะห์และการสื่อสารทางการตลาดจึงคลาดเคลื่อน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 customer journey ที่แตกเป็นหลายบัญชีแล้วถูกรวมกลับมา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Opening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4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ทำไม Duplicate Profile ถึงกระทบ C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ทำไม Duplicate Profile ถึงกระทบ CRM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เห็นพฤติกรรมลูกค้าไม่ครบ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นับจำนวนลูกค้าซ้ำ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วางแผน follow-up ผิดคนหรือผิดจังหวะ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ใช้ภาพก่อนรวมและหลังรวม customer 360 แบบ side-by-side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Opening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5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search Gap ที่งานนี้พยายามตอ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Research Gap ที่งานนี้พยายามตอบ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ไม่ได้จบที่ pair matching อย่างเดียว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ต้องเชื่อมต่อกับ workflow จริงของ CRM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ต้องคุมทั้ง coverage, precision และภาระ review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ใช้ไดอะแกรมจาก model output ไปสู่ human review และ CRM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Opening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6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คำถามวิจัยหลั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คำถามวิจัยหลัก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จะเชื่อมโปรไฟล์ข้ามแพลตฟอร์มให้แม่นพอสำหรับ CRM ได้อย่างไร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จะลดพื้นที่ค้นหาโดยไม่ทำให้คู่จริงหายไปมากเกินไปได้อย่างไร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จะตั้ง threshold ให้เหมาะกับการใช้งานจริงอย่างไร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ใช้กล่องคำถาม 3 ข้อเรียงจาก retrieval ไป production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Opening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7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วัตถุประสงค์ของโครงกา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วัตถุประสงค์ของโครงการ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พัฒนาระบบ cross-platform identity resolution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เปรียบเทียบแบบจำลองหลายประเภทบน split ที่ปลอดจาก leakage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ประเมินความเป็นไปได้ในการใช้งานจริงระดับ production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objective cards 3 ใบพร้อมไอคอน data, model, deployment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Opening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8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ribution ของงานนี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Contribution ของงานนี้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exact-first + blocking + calibrated scoring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multimodal feature set สูงสุด 41 ฟีเจอร์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workflow ปลายทางแบบ MATCH, REVIEW, NO_MATCH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3 กล่อง contribution พร้อมลูกศรเชื่อมต่อกัน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Opening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9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ขอบเขตเชิงธุรกิจกับขอบเขตการทดล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ขอบเขตเชิงธุรกิจกับขอบเขตการทดลอง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ธุรกิจอยากรวม identity ทุกกรณี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การทดลองหลักของงานนี้เน้น cross-platform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เพราะ same-platform positive มีเพียง 4 คู่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ใช้ตารางเปรียบเทียบ business scope กับ experimental scope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Opening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10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 &amp;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14400" y="1219200"/>
            <a:ext cx="50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600" b="1">
                <a:solidFill>
                  <a:srgbClr val="CCFBF1"/>
                </a:solidFill>
              </a:rPr>
              <a:t>Problem &amp; Data</a:t>
            </a:r>
            <a:endParaRPr lang="th-TH" sz="1600">
              <a:solidFill>
                <a:srgbClr val="CCFBF1"/>
              </a:solidFill>
            </a:endParaRPr>
          </a:p>
        </p:txBody>
      </p:sp>
      <p:sp>
        <p:nvSpPr>
          <p:cNvPr id="4" name="Section Title"/>
          <p:cNvSpPr txBox="1"/>
          <p:nvPr/>
        </p:nvSpPr>
        <p:spPr>
          <a:xfrm>
            <a:off x="914400" y="1828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3400" b="1">
                <a:solidFill>
                  <a:srgbClr val="FFFFFF"/>
                </a:solidFill>
              </a:rPr>
              <a:t>Problem &amp; Data</a:t>
            </a:r>
            <a:endParaRPr lang="th-TH" sz="3400">
              <a:solidFill>
                <a:srgbClr val="FFFFFF"/>
              </a:solidFill>
            </a:endParaRPr>
          </a:p>
        </p:txBody>
      </p:sp>
      <p:sp>
        <p:nvSpPr>
          <p:cNvPr id="5" name="Section Subtitle"/>
          <p:cNvSpPr txBox="1"/>
          <p:nvPr/>
        </p:nvSpPr>
        <p:spPr>
          <a:xfrm>
            <a:off x="914400" y="3200400"/>
            <a:ext cx="900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800">
                <a:solidFill>
                  <a:srgbClr val="E0F2FE"/>
                </a:solidFill>
              </a:rPr>
              <a:t>จากโจทย์ CRM ไปสู่ข้อเท็จจริงของข้อมูลที่เรามี</a:t>
            </a:r>
            <a:endParaRPr lang="th-TH" sz="1800">
              <a:solidFill>
                <a:srgbClr val="E0F2F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ชุดข้อมูลที่ใช้ในงา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ชุดข้อมูลที่ใช้ในงาน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อ้างอิงจาก LinkSocial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ใช้ 3 แพลตฟอร์ม: Twitter, Instagram, Google+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หลังคัด valid profiles เหลือ 36,804 โปรไฟล์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 dataset overview หรือรูปสรุปจำนวนโปรไฟล์ตามแพลตฟอร์ม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Problem &amp; Data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12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แพลตฟอร์มที่อยู่ในงานวิจัยนี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แพลตฟอร์มที่อยู่ในงานวิจัยนี้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Twitter 13,959 โปรไฟล์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Instagram 10,956 โปรไฟล์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Google+ 11,889 โปรไฟล์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bar chart 3 แท่งหรือไอคอนแพลตฟอร์มพร้อมตัวเลข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Problem &amp; Data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13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ฟิลด์หลักของโปรไฟล์หลัง normal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ฟิลด์หลักของโปรไฟล์หลัง normalize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userName, fullName, bio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location, externalUrl, pictureURL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platform, profile_id, profile_row_id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mock table ของหนึ่งโปรไฟล์แบบอ่านง่าย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Problem &amp; Data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14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ข้อท้าทายด้านคุณภาพข้อมู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ข้อท้าทายด้านคุณภาพข้อมูล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ข้อมูลหาย ไม่ครบ และไม่สม่ำเสมอ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รูปแบบการเขียนชื่อและ bio เปลี่ยนตามแพลตฟอร์ม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metadata ภาพและ URL มี coverage ไม่เท่ากัน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 puzzle pieces ที่หายบางส่วนหรือ table completeness heatmap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Problem &amp; Data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15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oogle+ คือแพลตฟอร์มที่ท้าทายที่สุ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Google+ คือแพลตฟอร์มที่ท้าทายที่สุด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เป็นข้อมูล archive จากแพลตฟอร์มที่ปิดตัวแล้ว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metadata และภาพไม่สมบูรณ์เท่า Twitter และ Instagram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ข้อผิดพลาดจำนวนมากกระจุกในคู่ Google+ -&gt; Twitter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callout box ชี้ให้เห็นบทบาทของ Google+ ในชุดข้อมูล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Problem &amp; Data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16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ตัวเลขโปรไฟล์ valid ที่ใช้จริ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ตัวเลขโปรไฟล์ valid ที่ใช้จริง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รวมทั้งหมด 36,804 โปรไฟล์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Twitter สัดส่วน 37.9%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Instagram 29.8% และ Google+ 32.3%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pie chart หรือ stacked bar ที่อ่านสัดส่วนง่าย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Problem &amp; Data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17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ll-Platform กับ Cross-Platform ไม่ใช่เรื่องเดียวกั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All-Platform กับ Cross-Platform ไม่ใช่เรื่องเดียวกัน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all unordered pairs = 677,248,806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cross-platform pairs = 449,149,239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same-platform pairs = 228,099,567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number cards 3 ใบ หรือ Venn-like comparison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Problem &amp; Data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18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ound Truth ที่รองรับการทดลองหลั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Ground Truth ที่รองรับการทดลองหลัก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cross-platform positive pairs = 29,243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same-platform positive pairs = 4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จึงเหมาะจะสรุปผลหลักในกรอบ cross-platform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ใช้ตารางเปรียบเทียบ positive pairs สองกรณี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Problem &amp; Data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19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ทำไม Search Space จึงเป็นปัญหาหลั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ทำไม Search Space จึงเป็นปัญหาหลัก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เปรียบเทียบทุกคู่ตรง ๆ ไม่คุ้มทั้งเวลาและทรัพยากร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449 ล้านคู่ใหญ่เกินกว่าจะ score ทุกคู่แบบตรงไปตรงมา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จึงต้องมี retrieval ก่อน scoring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funnel เริ่มจาก 449M แล้วชี้ว่าต้องลดก่อนเข้า model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Problem &amp; Data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20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ระบบต้องตอบ 3 งานต่อเนื่องกั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ระบบต้องตอบ 3 งานต่อเนื่องกัน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Retrieval: จะดึงคู่ที่ควรดูต่ออย่างไร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Scoring: จะให้คะแนนความน่าจะเป็นอย่างไร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Decision: จะตัดสิน MATCH, REVIEW, NO_MATCH อย่างไร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diagram 3 กล่องเรียงจากซ้ายไปขวา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Problem &amp; Data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21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ISP-DM คือกรอบวิธีวิจัยของงานนี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CRISP-DM คือกรอบวิธีวิจัยของงานนี้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Business Understanding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Data Understanding และ Data Preparation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Modeling, Evaluation และ Deployment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ใช้วงจร CRISP-DM แบบมาตรฐาน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Problem &amp; Data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22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thod &amp; Pip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14400" y="1219200"/>
            <a:ext cx="50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600" b="1">
                <a:solidFill>
                  <a:srgbClr val="CCFBF1"/>
                </a:solidFill>
              </a:rPr>
              <a:t>Method &amp; Pipeline</a:t>
            </a:r>
            <a:endParaRPr lang="th-TH" sz="1600">
              <a:solidFill>
                <a:srgbClr val="CCFBF1"/>
              </a:solidFill>
            </a:endParaRPr>
          </a:p>
        </p:txBody>
      </p:sp>
      <p:sp>
        <p:nvSpPr>
          <p:cNvPr id="4" name="Section Title"/>
          <p:cNvSpPr txBox="1"/>
          <p:nvPr/>
        </p:nvSpPr>
        <p:spPr>
          <a:xfrm>
            <a:off x="914400" y="1828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3400" b="1">
                <a:solidFill>
                  <a:srgbClr val="FFFFFF"/>
                </a:solidFill>
              </a:rPr>
              <a:t>Method &amp; Pipeline</a:t>
            </a:r>
            <a:endParaRPr lang="th-TH" sz="3400">
              <a:solidFill>
                <a:srgbClr val="FFFFFF"/>
              </a:solidFill>
            </a:endParaRPr>
          </a:p>
        </p:txBody>
      </p:sp>
      <p:sp>
        <p:nvSpPr>
          <p:cNvPr id="5" name="Section Subtitle"/>
          <p:cNvSpPr txBox="1"/>
          <p:nvPr/>
        </p:nvSpPr>
        <p:spPr>
          <a:xfrm>
            <a:off x="914400" y="3200400"/>
            <a:ext cx="900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800">
                <a:solidFill>
                  <a:srgbClr val="E0F2FE"/>
                </a:solidFill>
              </a:rPr>
              <a:t>จากข้อมูลดิบไปสู่การสร้างคู่ข้อมูล ฟีเจอร์ และโมเดลที่พร้อมใช้จริง</a:t>
            </a:r>
            <a:endParaRPr lang="th-TH" sz="1800">
              <a:solidFill>
                <a:srgbClr val="E0F2F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ภาพรวม End-to-End Pip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ภาพรวม End-to-End Pipeline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raw profiles -&gt; cleaned profiles -&gt; normalized profiles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pair building -&gt; feature engineering -&gt; modeling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retrieval -&gt; scoring -&gt; CRM export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pipeline overview ทั้งเส้นแบบ end-to-end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24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ge Map ของระบ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Stage Map ของระบบ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Stage 1-4: เตรียมข้อมูลและ artifact มาตรฐาน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Stage 5-8: สร้างคู่ข้อมูลและฝึกโมเดล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Stage 9-12: production retrieval, CRM export และ helper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timeline ของ stage 1 ถึง 12 พร้อมชื่อสั้น ๆ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25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ge 1: Data Prepa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Stage 1: Data Preparation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โหลดและ clean raw profiles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รวม schema ให้เป็นมาตรฐานเดียว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ได้ all_profiles_cleaned.csv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 data lineage จาก raw JSON ไปสู่ cleaned CSV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26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ge 2: Location Norm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Stage 2: Location Normalization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normalize location text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สร้าง location_mapping.csv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ลดความหลากหลายของ location ที่เขียนไม่เหมือนกัน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before-after examples ของ location text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27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ge 3: Normalized Profile Data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Stage 3: Normalized Profile Database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รวม profile fields กับ location mapping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แนบ profile_id และ profile_row_id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ได้ normalized_profiles_with_profile_id.csv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 data lineage เชื่อม cleaned profiles, location mapping และ normalized DB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28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ge 4: Image Recovery และ Image Arti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Stage 4: Image Recovery และ Image Artifacts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ดึงและจัดเก็บ local images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สร้าง metadata, quality, face และ caption artifacts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เตรียม image signal สำหรับสาย multimodal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 flow จาก pictureURL ไปสู่ images, metadata, captions, embeddings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29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ตัวอย่างโปรไฟล์หลังผ่านการ normal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ตัวอย่างโปรไฟล์หลังผ่านการ normalize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ข้อความถูกจัดให้อยู่ในฟิลด์เดียวกัน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คีย์เชิงโครงสร้างถูกเพิ่มเข้ามา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พร้อมสำหรับ pair building และ feature joins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screenshot ของ 1-2 แถวจาก normalized_profiles_with_profile_id.csv แบบ crop แล้วอ่านง่าย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30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ge 5: Pair Construction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Stage 5: Pair Construction Overview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สร้าง positive pairs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สร้าง random negatives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สร้าง hard negatives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pair-building diagram มี 3 แขนงแล้วรวมเป็น labeled pairs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31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การสร้าง Positive Pai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การสร้าง Positive Pairs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อิง user_folder เป็นตัวแทน identity ต้นทาง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ใช้คู่ข้ามแพลตฟอร์มเป็นฐานของงานหลัก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รองรับ ground truth 29,243 คู่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ใช้ภาพกลุ่มโปรไฟล์ของคนเดียวกันแล้วจับคู่ข้ามแพลตฟอร์ม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32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andom Negatives ใช้ทำอะไ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Random Negatives ใช้ทำอะไร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แทนคู่ลบทั่วไปที่พบได้ในโลกจริง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ช่วยให้โมเดลเห็น base rate ของคู่ที่ไม่ใช่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ลดการ bias ไปที่ตัวอย่างยากอย่างเดียว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ใช้ภาพกลุ่มคู่ข้อมูลจำนวนมากที่สุ่มมาจากคนละ identity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33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ard Negatives สำคัญอย่างไ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Hard Negatives สำคัญอย่างไร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เป็นคู่ลบที่คล้ายกันมาก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ช่วยกด false positives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จำเป็นมากสำหรับโจทย์ชื่อคล้ายข้ามแพลตฟอร์ม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ใช้ตัวอย่างคู่ชื่อคล้ายแต่คนละ identity แบบ side-by-side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34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สรุปปริมาณ Pair Data ที่สร้างได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สรุปปริมาณ Pair Data ที่สร้างได้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positive pairs = 4,060,200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random negatives = 20,301,000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hard negatives = 302,433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stacked bar หรือ 3 number cards พร้อมยอดรวม 24,663,633 คู่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35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หลักการ Split แบบ Leak-Sa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หลักการ Split แบบ Leak-Safe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split ในระดับ entity ไม่ใช่สุ่มทีละคู่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entity เดียวต้องอยู่ split เดียวกันทั้งหมด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ลด optimistic bias จาก identity leakage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ใช้รูป split design ที่ชี้ให้เห็น component overlap เป็นศูนย์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36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ทำไมต้องระวัง Leakage ขนาดนี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ทำไมต้องระวัง Leakage ขนาดนี้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run ดั้งเดิมเคยให้ metric สมบูรณ์แบบผิดปกติ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เมื่อแก้ leakage แล้วคะแนนกลับมาอยู่ในช่วงสมเหตุสมผล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ความน่าเชื่อถือของผลจึงสูงขึ้น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 leakage diagnosis หรือ before-after metric comparison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37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ขนาดข้อมูลหลัง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ขนาดข้อมูลหลัง Split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artifact-level pairs: train 10.13M, val 4.51M, test 0.46M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main supervised run: 41,803 / 8,580 / 8,313 rows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ใช้ทั้ง large artifact pipeline และ curated training split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ใช้สองชั้นของตัวเลข แยก artifact split กับ main run split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38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unked Feature Engine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Chunked Feature Engineering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คำนวณฟีเจอร์ทีละก้อน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ลดปัญหา memory footprint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ทำให้จัดการคู่ข้อมูลระดับล้านได้จริง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 data chunks ไหลผ่าน feature extractor แล้ว merge กลับ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39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จากโปรไฟล์ 2 ฝั่ง ไปสู่ Pair-Level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จากโปรไฟล์ 2 ฝั่ง ไปสู่ Pair-Level Vector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โมเดลไม่ได้รับ raw profile ตรง ๆ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แต่รับผลการเปรียบเทียบของสองโปรไฟล์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หนึ่งคู่ = หนึ่งแถวของฟีเจอร์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ใช้รูป pair-to-vector diagram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40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48 -&gt; 44 -&gt; 41 คืออะไ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48 -&gt; 44 -&gt; 41 คืออะไร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48 คอลัมน์ใน merged feature matrix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44 ฟีเจอร์หลังตัดคอลัมน์ระบุตัวคู่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41 ฟีเจอร์ที่เลือกใช้จริงใน main run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staircase diagram 48 ไป 44 ไป 41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Method &amp; Pipeline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41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eature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14400" y="1219200"/>
            <a:ext cx="50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600" b="1">
                <a:solidFill>
                  <a:srgbClr val="CCFBF1"/>
                </a:solidFill>
              </a:rPr>
              <a:t>Features</a:t>
            </a:r>
            <a:endParaRPr lang="th-TH" sz="1600">
              <a:solidFill>
                <a:srgbClr val="CCFBF1"/>
              </a:solidFill>
            </a:endParaRPr>
          </a:p>
        </p:txBody>
      </p:sp>
      <p:sp>
        <p:nvSpPr>
          <p:cNvPr id="4" name="Section Title"/>
          <p:cNvSpPr txBox="1"/>
          <p:nvPr/>
        </p:nvSpPr>
        <p:spPr>
          <a:xfrm>
            <a:off x="914400" y="1828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3400" b="1">
                <a:solidFill>
                  <a:srgbClr val="FFFFFF"/>
                </a:solidFill>
              </a:rPr>
              <a:t>Feature Design</a:t>
            </a:r>
            <a:endParaRPr lang="th-TH" sz="3400">
              <a:solidFill>
                <a:srgbClr val="FFFFFF"/>
              </a:solidFill>
            </a:endParaRPr>
          </a:p>
        </p:txBody>
      </p:sp>
      <p:sp>
        <p:nvSpPr>
          <p:cNvPr id="5" name="Section Subtitle"/>
          <p:cNvSpPr txBox="1"/>
          <p:nvPr/>
        </p:nvSpPr>
        <p:spPr>
          <a:xfrm>
            <a:off x="914400" y="3200400"/>
            <a:ext cx="900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800">
                <a:solidFill>
                  <a:srgbClr val="E0F2FE"/>
                </a:solidFill>
              </a:rPr>
              <a:t>จากข้อความ ลิงก์ และภาพ ไปสู่หลักฐานเชิงตัวเลขที่โมเดลใช้จริง</a:t>
            </a:r>
            <a:endParaRPr lang="th-TH" sz="1800">
              <a:solidFill>
                <a:srgbClr val="E0F2FE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ภาพรวมของกลุ่มฟีเจอร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ภาพรวมของกลุ่มฟีเจอร์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Identity string, bio, URL/domain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location, mention/hashtag, style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image availability, image stats, image-caption context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matrix หรือ family map ของ 10 กลุ่มฟีเจอร์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Features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43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dentity String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Identity String Features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username_jaro, username_lev, username_token_sort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fullname_jaro, fullname_lev, fullname_token_sort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เป็นแกนหลักของการตัดสินใจ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ใช้ตัวอย่างชื่อสองฝั่งแล้วคำนวณ similarity 2-3 แบบ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Features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44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io และ Semantic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Bio และ Semantic Features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bio_tfidf_cosine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bio_sbert_cosine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ช่วยจับความคล้ายเชิงเนื้อหา ไม่ใช่แค่คำที่ตรงกัน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ใช้ตัวอย่าง bio สองฝั่งที่คำไม่เหมือนกันแต่ความหมายใกล้กัน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Features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45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L และ Domain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URL และ Domain Features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domain_jaccard และ url_jaccard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domain_count_a และ domain_count_b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ใช้ลิงก์ภายนอกเป็นสัญญาณยืนยันตัวตน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ใช้ภาพตัวอย่าง externalUrl สองฝั่งและโดเมนที่ซ้ำกัน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Features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46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cation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Location Features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location_jaro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location_token_sort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ใช้กับ location ที่ผ่านการ normalize แล้ว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before-after ของ location เช่น Bangkok / BKK / Thailand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Features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47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ntion และ Hashtag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Mention และ Hashtag Features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mention_jaccard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hashtag_jaccard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hashtag_count_a และ hashtag_count_b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ใช้ตัวอย่าง bio ที่มี mentions และ hashtags ซ้ำกัน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Features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48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ylometric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Stylometric Features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style_caps_diff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style_avgword_diff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style_biolen_ratio และ style_punct_diff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ใช้ภาพเปรียบเทียบสไตล์การเขียนสองฝั่ง เช่น ตัวพิมพ์ใหญ่และความยาว bio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Features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49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latform Pai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Platform Pair Code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ระบุว่าคู่ที่เทียบกันเป็นแพลตฟอร์มใด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เช่น twitter-instagram หรือ googleplus-twitter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ช่วยให้โมเดลเรียนรู้ความยากต่างกันของแต่ละคู่แพลตฟอร์ม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matrix 3x3 ของคู่แพลตฟอร์มพร้อม color coding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Features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50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age Availability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Image Availability Features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image_any_local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image_both_local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image_one_local_only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ใช้ไอคอนรูปภาพ 2 ฝั่งแล้วไล่สถานะ none / one / both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Features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51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age Statistics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Image Statistics Features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phash, dhash, brightness, contrast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entropy, RGB distance, file-size ratio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face count, face area, blur และ metadata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ใช้แผนภาพ feature family ของสายภาพเชิงสถิติ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Features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52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age-Caption Context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Image-Caption Context Features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image_caption_any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image_caption_bio_sbert_cross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caption เทียบกับ fullName และ userName ของอีกฝั่ง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 flow จาก caption ของรูปไปเทียบกับ bio และชื่อของอีกฝั่ง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Features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53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ultimodal ในงานนี้เป็นการเพิ่มหลักฐานทีละขั้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Multimodal ในงานนี้เป็นการเพิ่มหลักฐานทีละขั้น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23 ฟีเจอร์: text_attr_hybrid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37 ฟีเจอร์: image_stats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41 ฟีเจอร์: image_context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staircase diagram 23 -&gt; 37 -&gt; 41 พร้อมคำอธิบายสั้น ๆ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Features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54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ing &amp; 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14400" y="1219200"/>
            <a:ext cx="50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600" b="1">
                <a:solidFill>
                  <a:srgbClr val="CCFBF1"/>
                </a:solidFill>
              </a:rPr>
              <a:t>Modeling &amp; Evaluation</a:t>
            </a:r>
            <a:endParaRPr lang="th-TH" sz="1600">
              <a:solidFill>
                <a:srgbClr val="CCFBF1"/>
              </a:solidFill>
            </a:endParaRPr>
          </a:p>
        </p:txBody>
      </p:sp>
      <p:sp>
        <p:nvSpPr>
          <p:cNvPr id="4" name="Section Title"/>
          <p:cNvSpPr txBox="1"/>
          <p:nvPr/>
        </p:nvSpPr>
        <p:spPr>
          <a:xfrm>
            <a:off x="914400" y="1828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3400" b="1">
                <a:solidFill>
                  <a:srgbClr val="FFFFFF"/>
                </a:solidFill>
              </a:rPr>
              <a:t>Modeling &amp; Evaluation</a:t>
            </a:r>
            <a:endParaRPr lang="th-TH" sz="3400">
              <a:solidFill>
                <a:srgbClr val="FFFFFF"/>
              </a:solidFill>
            </a:endParaRPr>
          </a:p>
        </p:txBody>
      </p:sp>
      <p:sp>
        <p:nvSpPr>
          <p:cNvPr id="5" name="Section Subtitle"/>
          <p:cNvSpPr txBox="1"/>
          <p:nvPr/>
        </p:nvSpPr>
        <p:spPr>
          <a:xfrm>
            <a:off x="914400" y="3200400"/>
            <a:ext cx="900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800">
                <a:solidFill>
                  <a:srgbClr val="E0F2FE"/>
                </a:solidFill>
              </a:rPr>
              <a:t>จาก feature space ไปสู่การเลือกโมเดลหลักและการอ่านผลอย่างถูกบริบท</a:t>
            </a:r>
            <a:endParaRPr lang="th-TH" sz="1800">
              <a:solidFill>
                <a:srgbClr val="E0F2FE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ภาพรวมของสายการทดล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ภาพรวมของสายการทดลอง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Classical leakage-safe line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Multimodal suite line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Neural-network reference line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roadmap ของ experiment line ทั้ง 3 สาย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56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assical Leakage-Saf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Classical Leakage-Safe Line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ใช้ 22 ฟีเจอร์เป็น baseline สำคัญ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Gradient Boosting ให้ Test AP 0.9703 และ F1 0.9337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strict report reference: logreg + sigmoid ที่ threshold 0.50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ใช้กราฟเปรียบเทียบ classical models หรือ heatmap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57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ultimodal Suit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Multimodal Suite Line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text_attr_hybrid -&gt; image_stats -&gt; image_context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ทุก run ใช้ pair set และ split เดียวกัน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ทำให้เห็นผลของการเพิ่ม modality ได้ชัด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ใช้ตารางหรือ bar chart เปรียบเทียบ 3 run หลัก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58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ural Referenc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Neural Reference Line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IdentityMLP ใช้เป็น neural baseline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ช่วยตอบว่าความซับซ้อนแบบ neural คุ้มไหม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ผลดีขึ้นจาก feature space ที่กว้างขึ้น แต่ยังไม่ชนะ GB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ใช้กล่องสรุป MLP พร้อม confusion matrix หรือ metric card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59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เหตุผลของค่า Tuning r075_h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เหตุผลของค่า Tuning r075_h20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random_neg_ratio = 0.75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hard_neg_ratio = 2.0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เป็นช่วงที่ให้ trade-off ดีใน rebuilt experiment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ใช้กราฟ tuning trade-off หรือ top tuning rows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60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ทำไม Exact-First ยังจำเป็นแม้มีโมเดลแล้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ทำไม Exact-First ยังจำเป็นแม้มีโมเดลแล้ว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exact precision สูงมาก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แยกคู่ที่ชัดมากออกจาก model stage ได้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ทำให้โมเดลโฟกัสเฉพาะคู่กำกวม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split diagram exact path กับ model path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61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ocking Keys ที่ใช้ใน Production Retriev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Blocking Keys ที่ใช้ใน Production Retrieval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username_prefix3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fullname_prefix3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external_domain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ใช้ภาพ blocking keys และลูกศรเชื่อม candidate buckets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62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trieval Summary ก่อนเข้าโมเด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Retrieval Summary ก่อนเข้าโมเดล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all cross-platform pairs = 449,149,239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exact matches = 12,403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candidate pairs = 2,073,842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funnel หรือ number cards 3 ชั้น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63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คุณภาพของ Exact-First เพียงอย่างเดีย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คุณภาพของ Exact-First เพียงอย่างเดียว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exact precision = 0.9949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exact recall_global = 0.4220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ดึงคู่จริงจำนวนมากออกได้ตั้งแต่ต้น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precision-recall cards ของ exact stage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64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ound-Truth Coverage หลัง Retriev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Ground-Truth Coverage หลัง Retrieval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search-space reduction = 99.54%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ground-truth coverage = 88.67%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blocking stage optimize candidate recall ไม่ใช่ precision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scatter หรือ two-metric card ระหว่าง reduction กับ coverage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65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เปรียบเทียบ 7 โมเดลบน Main Multimodal R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เปรียบเทียบ 7 โมเดลบน Main Multimodal Run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GB: AP 0.9797, AUC 0.9737, F1 0.9333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RF: AP 0.9764, AUC 0.9706, F1 0.9289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MLP: AP 0.9734, AUC 0.9649, F1 0.9255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model family heatmap หรือ ranking table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66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ทำไม Gradient Boosting จึงชน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ทำไม Gradient Boosting จึงชนะ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เหมาะกับ tabular similarity features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จับ nonlinear interaction ได้ดี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ยังพออธิบายผลผ่าน feature importance ได้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comparison card ของ GB เทียบกับ linear และ neural models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67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n หลักที่เลือกใช้จริ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Run หลักที่เลือกใช้จริง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image_context_r075_h20_s42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best model = Gradient Boosting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selected features = 41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model pipeline ของ main run พร้อม label ว่า chosen run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68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in Run Test 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Main Run Test Metrics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AP = 0.9789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AUC = 0.9734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Precision = 0.9507, Recall = 0.9179, F1 = 0.9340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metric cards ขนาดใหญ่ 3-5 ใบ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69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fusion Matrix ของ Main R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Confusion Matrix ของ Main Run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TN = 3717, FP = 209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FN = 360, TP = 4027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สะท้อนสมดุล precision กับ recall ที่ค่อนข้างดี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confusion matrix ของ main run แบบเต็มหน้า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70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การกระจายของคะแนนที่ผ่าน Calibration แล้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การกระจายของคะแนนที่ผ่าน Calibration แล้ว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MATCH กระจุกอยู่ทางขวา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NO_MATCH กระจุกอยู่ทางซ้าย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threshold เชิงจำแนกกับ threshold production คนละบริบท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score distribution plot พร้อมเส้น threshold 0.35, 0.95, 0.98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71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reshold Trade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Threshold Trade-Off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threshold ต่ำ -&gt; recall สูง แต่ precision ลด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threshold สูง -&gt; precision ดี แต่ recall หาย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จึงต้องมี REVIEW tier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precision-recall-f1 threshold sweep chart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72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libration คืออะไร และทำไมต้องท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Calibration คืออะไร และทำไมต้องทำ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คะแนนดิบจากโมเดลไม่เท่ากับ probability ที่เชื่อถือได้เสมอ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ใช้ Isotonic Regression เพื่อปรับคะแนน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ทำให้ threshold มีความหมายเชิงปฏิบัติการมากขึ้น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schematic แสดง raw score -&gt; calibrator -&gt; calibrated probability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73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ผลของ Calib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ผลของ Calibration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validation ECE = 0.0000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test ECE = 0.0044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คะแนนหลัง calibration เกาะ observed rate ได้ดี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calibration curve พร้อม marker ของแต่ละ bin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74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คุณภาพการจัดอันดับบน Full Candidate Po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คุณภาพการจัดอันดับบน Full Candidate Pool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candidate AP = 0.6017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candidate ROC-AUC = 0.9600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precision@100 = 0.98 และ precision@5000 = 0.9472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ranking quality chart พร้อม precision@k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75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rror Analysi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Error Analysis Overview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วิเคราะห์ fp_top.csv และ fn_top.csv อย่างละ 200 คู่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false negatives กระจุกใน Google+ -&gt; Twitter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false positives จำนวนมากเป็น hard negatives ที่ชื่อคล้ายมาก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error analysis figure แบบสรุปสองฝั่ง FP/FN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76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ตัวอย่าง False 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ตัวอย่าง False Positive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mitchellhall / mitchell hall vs mitchellhall / mitchell hall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ชื่อและ username ตรงกันมาก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แต่เป็นคนละ user_folder จริง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profile cards สองฝั่งแบบ side-by-side พร้อม highlight similarity สูง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77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ตัวอย่าง False 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ตัวอย่าง False Negative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sarojbeheraofficial vs indialiveblog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เป็นคู่จริง แต่ชื่ออ่อนมาก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probability เพียง 0.0041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profile cards สองฝั่งแล้ว highlight ว่าชื่อไม่ช่วย แต่ identity เดียวกัน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78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op 10 Feature Import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Top 10 Feature Importance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fullname_token_sort = 0.4165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username_token_sort = 0.2263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bio_tfidf_cosine = 0.0588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ใช้กราฟแท่ง top feature importance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79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amily-Level Import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Family-Level Importance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Name similarity = 89.51%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Bio text = 7.71%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Image-caption cross-signal = 0.65%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donut หรือ stacked bar แสดงสัดส่วนตาม family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80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ข้อจำกัดของสายภาพในรอบนี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ข้อจำกัดของสายภาพในรอบนี้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profiles with local image = 4,248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profiles with caption = 2,173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test pairs with both local images = 0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image coverage figure หรือ coverage ladder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Modeling &amp; Evaluation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81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duction &amp; C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14400" y="1219200"/>
            <a:ext cx="50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600" b="1">
                <a:solidFill>
                  <a:srgbClr val="CCFBF1"/>
                </a:solidFill>
              </a:rPr>
              <a:t>Production &amp; CRM</a:t>
            </a:r>
            <a:endParaRPr lang="th-TH" sz="1600">
              <a:solidFill>
                <a:srgbClr val="CCFBF1"/>
              </a:solidFill>
            </a:endParaRPr>
          </a:p>
        </p:txBody>
      </p:sp>
      <p:sp>
        <p:nvSpPr>
          <p:cNvPr id="4" name="Section Title"/>
          <p:cNvSpPr txBox="1"/>
          <p:nvPr/>
        </p:nvSpPr>
        <p:spPr>
          <a:xfrm>
            <a:off x="914400" y="1828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3400" b="1">
                <a:solidFill>
                  <a:srgbClr val="FFFFFF"/>
                </a:solidFill>
              </a:rPr>
              <a:t>Production &amp; CRM</a:t>
            </a:r>
            <a:endParaRPr lang="th-TH" sz="3400">
              <a:solidFill>
                <a:srgbClr val="FFFFFF"/>
              </a:solidFill>
            </a:endParaRPr>
          </a:p>
        </p:txBody>
      </p:sp>
      <p:sp>
        <p:nvSpPr>
          <p:cNvPr id="5" name="Section Subtitle"/>
          <p:cNvSpPr txBox="1"/>
          <p:nvPr/>
        </p:nvSpPr>
        <p:spPr>
          <a:xfrm>
            <a:off x="914400" y="3200400"/>
            <a:ext cx="900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800">
                <a:solidFill>
                  <a:srgbClr val="E0F2FE"/>
                </a:solidFill>
              </a:rPr>
              <a:t>จากคะแนนของโมเดล ไปสู่การตัดสินใจจริงในระบบ CRM</a:t>
            </a:r>
            <a:endParaRPr lang="th-TH" sz="1800">
              <a:solidFill>
                <a:srgbClr val="E0F2FE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duction Flow ของระบ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Production Flow ของระบบ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exact-first และ blocking มาก่อน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candidate scoring ทำหลัง retrieval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ผลลัพธ์สุดท้ายไปสู่ CRM workflow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threshold flow หรือ production pipeline diagram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Production &amp; CRM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83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กฎ Dual Threshold ที่ใช้จริ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กฎ Dual Threshold ที่ใช้จริง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exact pair -&gt; MATCH ทันที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score &gt;= 0.98 -&gt; MATCH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0.95 &lt;= score &lt; 0.98 -&gt; REVIEW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decision tree สั้น ๆ หรือ threshold ladder 3 ชั้น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Production &amp; CRM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84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perating Point ที่เลือกใช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Operating Point ที่เลือกใช้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match_threshold = 0.98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review_threshold = 0.95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ออกแบบเพื่อคุม false merge ใน CRM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dashboard สรุป threshold, tier counts และ quality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Production &amp; CRM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85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trieval Fu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Retrieval Funnel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449,149,239 คู่ -&gt; 12,403 exact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เหลือ 2,073,842 candidate pairs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สุดท้ายได้ MATCH 20,549 และ REVIEW 86,296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funnel เต็มรูปจาก all pairs ไปสู่ exact, candidate, match, review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Production &amp; CRM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86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จำนวนคู่ในแต่ละ Ti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จำนวนคู่ในแต่ละ Tier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MATCH = 20,549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REVIEW = 86,296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NO_MATCH = 1,979,400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bar chart 3 แท่งหรือ stacked bar ของ final decisions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Production &amp; CRM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87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คุณภาพของ Final MATCH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คุณภาพของ Final MATCH Only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final match-only precision = 0.9550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final match-only recall = 0.6711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exact และ high-score match ทำงานร่วมกัน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precision-recall cards ของ final match tier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Production &amp; CRM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88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duction Decision 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Production Decision Matrix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คู่จริง 19,624 คู่ไปอยู่ใน MATCH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คู่จริง 4,065 คู่ไปอยู่ใน REVIEW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คู่ไม่จริงหลุดเข้า MATCH เพียง 925 คู่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production decision matrix แบบ 3 tier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Production &amp; CRM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89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VIEW Queue ไม่ใช่จุดอ่อน แต่คือ Safety Buf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REVIEW Queue ไม่ใช่จุดอ่อน แต่คือ Safety Buffer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review precision = 0.0471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review recall contribution = 0.1390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ตั้งใจกันคู่กำกวมไว้ให้คนตัดสิน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workflow box ของ reviewer ระหว่าง MATCH กับ NO_MATCH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Production &amp; CRM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90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M Entity M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CRM Entity Merge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รวมผล MATCH เข้าสู่ entity เดียว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ใช้ union-find สำหรับ transitive closure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ได้ unified customer view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ใช้แผนภาพหลายโปรไฟล์ไหลเข้ากลุ่ม entity เดียว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Production &amp; CRM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91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จำนวน Unified Profiles ที่ได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จำนวน Unified Profiles ที่ได้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unified profiles = 19,799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เป็นผลจาก exact + high-score matches + entity merge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พร้อมต่อยอดสู่ customer 360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big number card กับภาพ customer clusters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Production &amp; CRM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92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ead Scoring T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Lead Scoring Tiers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HOT = 4,937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WARM = 9,039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COLD = 5,823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stacked bar หรือ 3 cards ของ lead tiers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Production &amp; CRM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93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siness Use Case ที่เกิดขึ้นได้จริ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Business Use Case ที่เกิดขึ้นได้จริง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เห็นลูกค้าคนเดียวกันแบบรวมศูนย์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จัดลำดับความสำคัญของ lead ได้ดีขึ้น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วางแผน follow-up และ personalization ได้แม่นขึ้น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before-after ของ CRM dashboard หรือ customer 360 mockup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Production &amp; CRM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94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14400" y="1219200"/>
            <a:ext cx="50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600" b="1">
                <a:solidFill>
                  <a:srgbClr val="CCFBF1"/>
                </a:solidFill>
              </a:rPr>
              <a:t>Conclusion</a:t>
            </a:r>
            <a:endParaRPr lang="th-TH" sz="1600">
              <a:solidFill>
                <a:srgbClr val="CCFBF1"/>
              </a:solidFill>
            </a:endParaRPr>
          </a:p>
        </p:txBody>
      </p:sp>
      <p:sp>
        <p:nvSpPr>
          <p:cNvPr id="4" name="Section Title"/>
          <p:cNvSpPr txBox="1"/>
          <p:nvPr/>
        </p:nvSpPr>
        <p:spPr>
          <a:xfrm>
            <a:off x="914400" y="1828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3400" b="1">
                <a:solidFill>
                  <a:srgbClr val="FFFFFF"/>
                </a:solidFill>
              </a:rPr>
              <a:t>Conclusion</a:t>
            </a:r>
            <a:endParaRPr lang="th-TH" sz="3400">
              <a:solidFill>
                <a:srgbClr val="FFFFFF"/>
              </a:solidFill>
            </a:endParaRPr>
          </a:p>
        </p:txBody>
      </p:sp>
      <p:sp>
        <p:nvSpPr>
          <p:cNvPr id="5" name="Section Subtitle"/>
          <p:cNvSpPr txBox="1"/>
          <p:nvPr/>
        </p:nvSpPr>
        <p:spPr>
          <a:xfrm>
            <a:off x="914400" y="3200400"/>
            <a:ext cx="900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800">
                <a:solidFill>
                  <a:srgbClr val="E0F2FE"/>
                </a:solidFill>
              </a:rPr>
              <a:t>สรุปว่าอะไรคือคำตอบหลักของงานนี้ และอะไรคือขอบเขตที่ควรต่อยอด</a:t>
            </a:r>
            <a:endParaRPr lang="th-TH" sz="1800">
              <a:solidFill>
                <a:srgbClr val="E0F2FE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คำตอบต่อวัตถุประสงค์ที่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คำตอบต่อวัตถุประสงค์ที่ 1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ระบบ cross-platform identity resolution ถูกพัฒนาได้จริง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main run ให้ AP 0.9789 และ F1 0.9340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retrieval ลด search space ได้ 99.54%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summary card ผูก metric ของ model กับ metric ของ retrieval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Conclusion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96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คำตอบต่อวัตถุประสงค์ที่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คำตอบต่อวัตถุประสงค์ที่ 2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Gradient Boosting ชนะโดยรวม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tree-based models เหมาะกับ pair-level tabular features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multimodal run แบบ image_context ให้ผลดีที่สุด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model comparison summary แบบย่อ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Conclusion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97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คำตอบต่อวัตถุประสงค์ที่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คำตอบต่อวัตถุประสงค์ที่ 3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สามารถใช้งานจริงใน production ได้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final match-only precision = 0.9550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มี review queue รองรับ human-in-the-loop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threshold dashboard หรือ CRM outcomes summary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Conclusion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98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ข้อจำกัดที่ต้องยอมรั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457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2600" b="1">
                <a:solidFill>
                  <a:srgbClr val="0F172A"/>
                </a:solidFill>
              </a:rPr>
              <a:t>ข้อจำกัดที่ต้องยอมรับ</a:t>
            </a:r>
            <a:endParaRPr lang="th-TH" sz="2600">
              <a:solidFill>
                <a:srgbClr val="0F172A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85800" y="1188720"/>
            <a:ext cx="6705600" cy="3886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900">
                <a:solidFill>
                  <a:srgbClr val="1E293B"/>
                </a:solidFill>
              </a:rPr>
              <a:t>• แพลตฟอร์มยังมีเพียง 3 แหล่ง และมี Google+ เป็นข้อมูล archive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สายภาพยังเป็น partial multimodal</a:t>
            </a:r>
            <a:endParaRPr lang="th-TH" sz="1900">
              <a:solidFill>
                <a:srgbClr val="1E293B"/>
              </a:solidFill>
            </a:endParaRPr>
          </a:p>
          <a:p>
            <a:pPr algn="l"/>
            <a:r>
              <a:rPr lang="th-TH" sz="1900">
                <a:solidFill>
                  <a:srgbClr val="1E293B"/>
                </a:solidFill>
              </a:rPr>
              <a:t>• ยังไม่มี temporal validation และ case-level explanation</a:t>
            </a:r>
            <a:endParaRPr lang="th-TH" sz="1900">
              <a:solidFill>
                <a:srgbClr val="1E293B"/>
              </a:solidFill>
            </a:endParaRPr>
          </a:p>
        </p:txBody>
      </p:sp>
      <p:sp>
        <p:nvSpPr>
          <p:cNvPr id="5" name="Visual Box"/>
          <p:cNvSpPr txBox="1"/>
          <p:nvPr/>
        </p:nvSpPr>
        <p:spPr>
          <a:xfrm>
            <a:off x="7924800" y="1280160"/>
            <a:ext cx="35661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500">
                <a:solidFill>
                  <a:srgbClr val="334155"/>
                </a:solidFill>
              </a:rPr>
              <a:t>ภาพประกอบแนะนำ</a:t>
            </a:r>
            <a:endParaRPr lang="th-TH" sz="1500">
              <a:solidFill>
                <a:srgbClr val="334155"/>
              </a:solidFill>
            </a:endParaRPr>
          </a:p>
          <a:p>
            <a:pPr algn="l"/>
            <a:r>
              <a:rPr lang="th-TH" sz="1500">
                <a:solidFill>
                  <a:srgbClr val="334155"/>
                </a:solidFill>
              </a:rPr>
              <a:t>ใช้ limitation board 3 ช่อง พร้อมไอคอน platform, image, time</a:t>
            </a:r>
            <a:endParaRPr lang="th-TH" sz="1500">
              <a:solidFill>
                <a:srgbClr val="334155"/>
              </a:solidFill>
            </a:endParaRPr>
          </a:p>
        </p:txBody>
      </p:sp>
      <p:sp>
        <p:nvSpPr>
          <p:cNvPr id="6" name="Footer Left"/>
          <p:cNvSpPr txBox="1"/>
          <p:nvPr/>
        </p:nvSpPr>
        <p:spPr>
          <a:xfrm>
            <a:off x="685800" y="6126480"/>
            <a:ext cx="5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/>
            <a:r>
              <a:rPr lang="th-TH" sz="1200">
                <a:solidFill>
                  <a:srgbClr val="64748B"/>
                </a:solidFill>
              </a:rPr>
              <a:t>Conclusion</a:t>
            </a:r>
            <a:endParaRPr lang="th-TH" sz="1200">
              <a:solidFill>
                <a:srgbClr val="64748B"/>
              </a:solidFill>
            </a:endParaRPr>
          </a:p>
        </p:txBody>
      </p:sp>
      <p:sp>
        <p:nvSpPr>
          <p:cNvPr id="7" name="Footer Right"/>
          <p:cNvSpPr txBox="1"/>
          <p:nvPr/>
        </p:nvSpPr>
        <p:spPr>
          <a:xfrm>
            <a:off x="9144000" y="6126480"/>
            <a:ext cx="23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r"/>
            <a:r>
              <a:rPr lang="th-TH" sz="1200">
                <a:solidFill>
                  <a:srgbClr val="64748B"/>
                </a:solidFill>
              </a:rPr>
              <a:t>Slide 99</a:t>
            </a:r>
            <a:endParaRPr lang="th-TH"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uture Work และ 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ctr"/>
            <a:r>
              <a:rPr lang="th-TH" sz="3400" b="1">
                <a:solidFill>
                  <a:srgbClr val="FFFFFF"/>
                </a:solidFill>
              </a:rPr>
              <a:t>Future Work และ Q&amp;A</a:t>
            </a:r>
            <a:endParaRPr lang="th-TH" sz="3400">
              <a:solidFill>
                <a:srgbClr val="FFFFFF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1828800" y="2514600"/>
            <a:ext cx="853440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ctr"/>
            <a:r>
              <a:rPr lang="th-TH" sz="2000">
                <a:solidFill>
                  <a:srgbClr val="CBD5E1"/>
                </a:solidFill>
              </a:rPr>
              <a:t>ขยายไปยังแพลตฟอร์มใหม่และข้อมูลภาษาไทย</a:t>
            </a:r>
            <a:endParaRPr lang="th-TH" sz="2000">
              <a:solidFill>
                <a:srgbClr val="CBD5E1"/>
              </a:solidFill>
            </a:endParaRPr>
          </a:p>
          <a:p>
            <a:pPr algn="ctr"/>
            <a:r>
              <a:rPr lang="th-TH" sz="2000">
                <a:solidFill>
                  <a:srgbClr val="CBD5E1"/>
                </a:solidFill>
              </a:rPr>
              <a:t>เพิ่ม full image-to-image matching, XAI และ active learning</a:t>
            </a:r>
            <a:endParaRPr lang="th-TH" sz="2000">
              <a:solidFill>
                <a:srgbClr val="CBD5E1"/>
              </a:solidFill>
            </a:endParaRPr>
          </a:p>
          <a:p>
            <a:pPr algn="ctr"/>
            <a:r>
              <a:rPr lang="th-TH" sz="2000">
                <a:solidFill>
                  <a:srgbClr val="CBD5E1"/>
                </a:solidFill>
              </a:rPr>
              <a:t>เปิดให้ถามต่อเรื่อง pipeline, model หรือ production decision</a:t>
            </a:r>
            <a:endParaRPr lang="th-TH" sz="2000">
              <a:solidFill>
                <a:srgbClr val="CBD5E1"/>
              </a:solidFill>
            </a:endParaRPr>
          </a:p>
        </p:txBody>
      </p:sp>
      <p:sp>
        <p:nvSpPr>
          <p:cNvPr id="5" name="Visual Prompt"/>
          <p:cNvSpPr txBox="1"/>
          <p:nvPr/>
        </p:nvSpPr>
        <p:spPr>
          <a:xfrm>
            <a:off x="1828800" y="4800600"/>
            <a:ext cx="8534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ctr"/>
            <a:r>
              <a:rPr lang="th-TH" sz="1400">
                <a:solidFill>
                  <a:srgbClr val="94A3B8"/>
                </a:solidFill>
              </a:rPr>
              <a:t>ภาพปิดท้าย: ใช้สไลด์ปิดที่มี roadmap สั้น ๆ กับคำว่า Q&amp;A ชัดเจน</a:t>
            </a:r>
            <a:endParaRPr lang="th-TH" sz="14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1 Theme">
  <a:themeElements>
    <a:clrScheme name="Project Colors">
      <a:dk1>
        <a:srgbClr val="0F172A"/>
      </a:dk1>
      <a:lt1>
        <a:srgbClr val="FFFFFF"/>
      </a:lt1>
      <a:dk2>
        <a:srgbClr val="134E4A"/>
      </a:dk2>
      <a:lt2>
        <a:srgbClr val="F8FAFC"/>
      </a:lt2>
      <a:accent1>
        <a:srgbClr val="0F766E"/>
      </a:accent1>
      <a:accent2>
        <a:srgbClr val="0891B2"/>
      </a:accent2>
      <a:accent3>
        <a:srgbClr val="F59E0B"/>
      </a:accent3>
      <a:accent4>
        <a:srgbClr val="22C55E"/>
      </a:accent4>
      <a:accent5>
        <a:srgbClr val="64748B"/>
      </a:accent5>
      <a:accent6>
        <a:srgbClr val="CBD5E1"/>
      </a:accent6>
      <a:hlink>
        <a:srgbClr val="2563EB"/>
      </a:hlink>
      <a:folHlink>
        <a:srgbClr val="7C3AED"/>
      </a:folHlink>
    </a:clrScheme>
    <a:fontScheme name="Project Fonts">
      <a:majorFont>
        <a:latin typeface="Aptos Display"/>
        <a:ea typeface="Angsana New"/>
        <a:cs typeface="Aptos"/>
      </a:majorFont>
      <a:minorFont>
        <a:latin typeface="Aptos"/>
        <a:ea typeface="Angsana New"/>
        <a:cs typeface="Aptos"/>
      </a:minorFont>
    </a:fontScheme>
    <a:fmtScheme name="Project Format">
      <a:fillStyleLst>
        <a:solidFill>
          <a:schemeClr val="phClr"/>
        </a:solidFill>
        <a:solidFill>
          <a:schemeClr val="phClr">
            <a:tint val="50000"/>
            <a:satMod val="300000"/>
          </a:schemeClr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50000">
              <a:schemeClr val="phClr">
                <a:tint val="98000"/>
                <a:satMod val="130000"/>
              </a:schemeClr>
            </a:gs>
            <a:gs pos="100000">
              <a:schemeClr val="phClr">
                <a:tint val="90000"/>
                <a:satMod val="12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100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Project 1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 Presentation Guide</dc:title>
  <dc:subject>Cross-Platform Identity Resolution for CRM</dc:subject>
  <dc:creator>OpenAI Codex</dc:creator>
  <cp:keywords>presentation,pptx,crm,identity resolution,multimodal</cp:keywords>
  <dc:description>100-slide presentation template with speaking script for Project 1.</dc:description>
  <cp:lastModifiedBy>OpenAI Codex</cp:lastModifiedBy>
  <dcterms:created xsi:type="dcterms:W3CDTF">2026-03-31T07:05:25Z</dcterms:created>
  <dcterms:modified xsi:type="dcterms:W3CDTF">2026-03-31T07:05:25Z</dcterms:modified>
</cp:coreProperties>
</file>